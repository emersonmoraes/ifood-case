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A29F"/>
    <a:srgbClr val="EA1D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5535A-4A98-F1F9-13F6-6A8B04E48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2A55A-69F5-1D95-28F8-1AA406BC2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53176-EFFF-CAD0-19C5-7229A1878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9E71-DF3A-4953-8A09-E58D1707584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9B635-3C2A-E891-6A26-7F34E86EE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90188-DAD6-69CC-988B-85A7EF9B9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1187-A4E6-438C-B0C3-69C213454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043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821CF-D31A-CB2B-9E87-81129FA0E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95947-5504-566D-4F9A-C76664A42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40C89-0950-E85B-EA01-41F34568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9E71-DF3A-4953-8A09-E58D1707584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DD29C-D516-5D6A-93BA-A138664B1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C50C9-DB82-3803-23A6-4AE5AD71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1187-A4E6-438C-B0C3-69C213454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416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D0C7F-F865-19AF-C96F-A43F790C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6318A5-7244-A934-B691-778254106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B722F-ACDF-1205-9E42-B7632435E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9E71-DF3A-4953-8A09-E58D1707584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9E175B-C2F6-B278-1B1A-30CBDA905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1CB03-D823-D3E7-C508-2F7955A7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1187-A4E6-438C-B0C3-69C213454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65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B6696-A017-89C5-31E0-51AAC17F4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E8A53-16F9-64CC-89EB-689CB4583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0AA69C-8FC6-E0DF-935C-3E5B29A84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A54B81-3AFF-CAD8-645C-406FA41B0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9E71-DF3A-4953-8A09-E58D1707584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7BB5C-B369-8A3B-696F-ECD66BA36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B7701-4372-EF7F-D1EA-AB5E76F5D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1187-A4E6-438C-B0C3-69C213454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212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BD7D5-B75F-575A-D78A-679062361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07A261-C346-DD17-E126-969DE8407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F5CEE-CC70-161A-8C4C-21814E21B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71C726-7C74-9675-938B-A8B9DC81F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BDE166-8BD6-1DA7-0B50-60CBA1793E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5C5EE9-ECED-1EDF-5884-F9E29793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9E71-DF3A-4953-8A09-E58D1707584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3BAD61-60A1-B3F7-9A25-AB961EC6E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F5B162-6A80-057D-FD0F-2548877E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1187-A4E6-438C-B0C3-69C213454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5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727E-F452-102D-485E-DA663C2E9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B5941-2766-B399-21F9-15BC49CCC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9E71-DF3A-4953-8A09-E58D1707584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E4B02-18C7-C52F-3E94-47091F5C5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E5AC88-5BB6-239E-150B-5E0C52FF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1187-A4E6-438C-B0C3-69C213454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26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8D5C5-E2E9-ABC5-5B39-98E61DD8E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9E71-DF3A-4953-8A09-E58D1707584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559F9-A817-2BAA-358F-2C445469E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B5AA3-22F1-7714-2922-9A92D15B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1187-A4E6-438C-B0C3-69C213454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83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280C9-0AD6-027D-4F70-7855A6937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80C63-F22D-A253-EBE0-9FD80FD7B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EA98C-1C05-3E11-7424-97375C8432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C440BE-98DF-EA73-D6FD-50DD23D6E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9E71-DF3A-4953-8A09-E58D1707584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39279-2B16-02F3-80DA-41D0BA462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2C55E-B5CC-833D-DF45-2BACD1CD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1187-A4E6-438C-B0C3-69C213454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205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4F7D2-E0E4-CCB6-26A5-94F81DA9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7F170E-E5CE-1CDF-0B32-2C670C621E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628BC9-53E3-CF26-E0EE-714F9DA98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A65E6-B0F0-D49E-65D4-5BC917EFD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9E71-DF3A-4953-8A09-E58D1707584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CD2C4F-649F-4808-938A-56BCCDB3B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70397-73DA-55D2-0FE8-E1031BF2D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1187-A4E6-438C-B0C3-69C213454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912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B5EE8-6DD8-B910-7C2F-385DCC735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F3CCBA-69DD-4D16-DDE5-557FBBFB6C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1B852-7AC6-82DB-42E7-B5DA53786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9E71-DF3A-4953-8A09-E58D1707584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0286C1-F4FE-F6CE-8134-FF64283F8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4137F-3D1B-93ED-73FF-2D3E10F62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1187-A4E6-438C-B0C3-69C213454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37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3C2909-B98E-C930-B836-B9C6D2BA3E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EBA839-6DE0-FED3-78B4-609C46802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AEC7D-ADED-706C-D5A6-B14640FF9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09E71-DF3A-4953-8A09-E58D1707584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CFA0A-4E96-3C5F-6006-B891FC0A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C3536-DB2A-21AB-DD16-1CFDF946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91187-A4E6-438C-B0C3-69C213454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81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C931EE-1879-075C-5D99-107730FFB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8B003-445C-A6AC-5894-AC1D83BFB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4714F-B34F-4BF2-6C69-2EA769B2A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09E71-DF3A-4953-8A09-E58D1707584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DE028-9697-6123-236F-D296B415DF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BEFFF-8202-D82F-E45B-217832387C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591187-A4E6-438C-B0C3-69C2134542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090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food Images – Browse 698 Stock Photos, Vectors, and Video | Adobe Stock">
            <a:extLst>
              <a:ext uri="{FF2B5EF4-FFF2-40B4-BE49-F238E27FC236}">
                <a16:creationId xmlns:a16="http://schemas.microsoft.com/office/drawing/2014/main" id="{55BB53A4-BD24-1CA1-3F78-A8CF8475C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1BF014-C543-67FF-7DE7-B5D36855A5A0}"/>
              </a:ext>
            </a:extLst>
          </p:cNvPr>
          <p:cNvSpPr txBox="1"/>
          <p:nvPr/>
        </p:nvSpPr>
        <p:spPr>
          <a:xfrm>
            <a:off x="1027657" y="303179"/>
            <a:ext cx="10136686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b="1" dirty="0">
                <a:solidFill>
                  <a:schemeClr val="bg1"/>
                </a:solidFill>
              </a:rPr>
              <a:t>Case </a:t>
            </a:r>
            <a:r>
              <a:rPr lang="en-US" sz="5000" b="1" dirty="0" err="1">
                <a:solidFill>
                  <a:schemeClr val="bg1"/>
                </a:solidFill>
              </a:rPr>
              <a:t>Tecnico</a:t>
            </a:r>
            <a:r>
              <a:rPr lang="en-US" sz="5000" b="1" dirty="0">
                <a:solidFill>
                  <a:schemeClr val="bg1"/>
                </a:solidFill>
              </a:rPr>
              <a:t> Data Science - </a:t>
            </a:r>
            <a:r>
              <a:rPr lang="en-US" sz="5000" b="1" dirty="0" err="1">
                <a:solidFill>
                  <a:schemeClr val="bg1"/>
                </a:solidFill>
              </a:rPr>
              <a:t>iFood</a:t>
            </a:r>
            <a:endParaRPr lang="en-US" sz="5000" b="1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08EFC-3083-2A29-F491-C700A1C4A027}"/>
              </a:ext>
            </a:extLst>
          </p:cNvPr>
          <p:cNvSpPr txBox="1"/>
          <p:nvPr/>
        </p:nvSpPr>
        <p:spPr>
          <a:xfrm>
            <a:off x="4354815" y="1506604"/>
            <a:ext cx="743363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500" b="1" dirty="0"/>
              <a:t>Como escolher a melhor oferta para cada cliente?</a:t>
            </a:r>
            <a:endParaRPr lang="en-US" sz="25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41430E-9A38-50C0-4119-B31D8759BDBF}"/>
              </a:ext>
            </a:extLst>
          </p:cNvPr>
          <p:cNvSpPr txBox="1"/>
          <p:nvPr/>
        </p:nvSpPr>
        <p:spPr>
          <a:xfrm>
            <a:off x="5770660" y="2078629"/>
            <a:ext cx="593955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Diferentes clientes respondem de formas diferentes.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Diferentes ofertas geram conversão e valor distintos.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A solução usa dados históricos para melhorar essa decisão.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73159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19F74-9D1C-C3D7-579C-67D0DBBF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17B6A7E-F738-C131-979C-595953A3BA0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7" name="Picture 6" descr="Medida preventiva contra o iFood Benefícios é rejeitada pelo Cade •  Tecnoblog">
              <a:extLst>
                <a:ext uri="{FF2B5EF4-FFF2-40B4-BE49-F238E27FC236}">
                  <a16:creationId xmlns:a16="http://schemas.microsoft.com/office/drawing/2014/main" id="{2086BB5A-FB57-3F02-7A6A-9E923671B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8A9EDB44-AF48-13DB-E2B2-BD529B24F811}"/>
                </a:ext>
              </a:extLst>
            </p:cNvPr>
            <p:cNvSpPr/>
            <p:nvPr/>
          </p:nvSpPr>
          <p:spPr>
            <a:xfrm>
              <a:off x="0" y="0"/>
              <a:ext cx="9114503" cy="685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681050E-9075-51D7-EB0E-FDA710F9CB1E}"/>
              </a:ext>
            </a:extLst>
          </p:cNvPr>
          <p:cNvSpPr txBox="1"/>
          <p:nvPr/>
        </p:nvSpPr>
        <p:spPr>
          <a:xfrm>
            <a:off x="1091381" y="304800"/>
            <a:ext cx="71775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EA1D2C"/>
                </a:solidFill>
              </a:rPr>
              <a:t>Motor de </a:t>
            </a:r>
            <a:r>
              <a:rPr lang="en-US" sz="3000" b="1" dirty="0" err="1">
                <a:solidFill>
                  <a:srgbClr val="EA1D2C"/>
                </a:solidFill>
              </a:rPr>
              <a:t>recomendação</a:t>
            </a:r>
            <a:r>
              <a:rPr lang="en-US" sz="3000" b="1" dirty="0">
                <a:solidFill>
                  <a:srgbClr val="EA1D2C"/>
                </a:solidFill>
              </a:rPr>
              <a:t> </a:t>
            </a:r>
            <a:r>
              <a:rPr lang="en-US" sz="3000" b="1" dirty="0" err="1">
                <a:solidFill>
                  <a:srgbClr val="EA1D2C"/>
                </a:solidFill>
              </a:rPr>
              <a:t>cliente-oferta</a:t>
            </a:r>
            <a:endParaRPr lang="en-US" sz="3000" b="1" dirty="0">
              <a:solidFill>
                <a:srgbClr val="EA1D2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6010CA-2B81-82EF-76FD-E968AEF6CBC2}"/>
              </a:ext>
            </a:extLst>
          </p:cNvPr>
          <p:cNvSpPr txBox="1"/>
          <p:nvPr/>
        </p:nvSpPr>
        <p:spPr>
          <a:xfrm>
            <a:off x="698091" y="1183263"/>
            <a:ext cx="80329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Foi criado um modelo que estima qual oferta tem maior chance de gerar resultado para cada cliente.</a:t>
            </a:r>
            <a:endParaRPr lang="en-US" sz="2000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672401-3116-C75E-EB52-D2A46F57C2D1}"/>
              </a:ext>
            </a:extLst>
          </p:cNvPr>
          <p:cNvSpPr/>
          <p:nvPr/>
        </p:nvSpPr>
        <p:spPr>
          <a:xfrm>
            <a:off x="698091" y="2465439"/>
            <a:ext cx="3057833" cy="963561"/>
          </a:xfrm>
          <a:prstGeom prst="rect">
            <a:avLst/>
          </a:prstGeom>
          <a:solidFill>
            <a:srgbClr val="EA1D2C"/>
          </a:solidFill>
          <a:ln>
            <a:solidFill>
              <a:srgbClr val="EA1D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Cliente</a:t>
            </a:r>
            <a:r>
              <a:rPr lang="en-US" dirty="0"/>
              <a:t> + </a:t>
            </a:r>
            <a:r>
              <a:rPr lang="en-US" dirty="0" err="1"/>
              <a:t>Oferta</a:t>
            </a:r>
            <a:r>
              <a:rPr lang="en-US" dirty="0"/>
              <a:t> + Histórico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EC48B76-3C31-98F7-6C15-635E71321EBA}"/>
              </a:ext>
            </a:extLst>
          </p:cNvPr>
          <p:cNvSpPr/>
          <p:nvPr/>
        </p:nvSpPr>
        <p:spPr>
          <a:xfrm>
            <a:off x="3977148" y="2745658"/>
            <a:ext cx="521110" cy="403122"/>
          </a:xfrm>
          <a:prstGeom prst="rightArrow">
            <a:avLst/>
          </a:prstGeom>
          <a:solidFill>
            <a:srgbClr val="EA1D2C"/>
          </a:solidFill>
          <a:ln>
            <a:solidFill>
              <a:srgbClr val="EA1D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37E4A9-8F51-FEBE-8C64-266AF3A58571}"/>
              </a:ext>
            </a:extLst>
          </p:cNvPr>
          <p:cNvSpPr/>
          <p:nvPr/>
        </p:nvSpPr>
        <p:spPr>
          <a:xfrm>
            <a:off x="4635911" y="2465439"/>
            <a:ext cx="1460089" cy="963561"/>
          </a:xfrm>
          <a:prstGeom prst="rect">
            <a:avLst/>
          </a:prstGeom>
          <a:solidFill>
            <a:srgbClr val="EA1D2C"/>
          </a:solidFill>
          <a:ln>
            <a:solidFill>
              <a:srgbClr val="EA1D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Modelo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765670C-0A88-8F7A-6689-4D9464024301}"/>
              </a:ext>
            </a:extLst>
          </p:cNvPr>
          <p:cNvSpPr/>
          <p:nvPr/>
        </p:nvSpPr>
        <p:spPr>
          <a:xfrm>
            <a:off x="6238570" y="2745658"/>
            <a:ext cx="521110" cy="403122"/>
          </a:xfrm>
          <a:prstGeom prst="rightArrow">
            <a:avLst/>
          </a:prstGeom>
          <a:solidFill>
            <a:srgbClr val="EA1D2C"/>
          </a:solidFill>
          <a:ln>
            <a:solidFill>
              <a:srgbClr val="EA1D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AEBD19-1420-1EE6-268F-1987BF6B7D4B}"/>
              </a:ext>
            </a:extLst>
          </p:cNvPr>
          <p:cNvSpPr/>
          <p:nvPr/>
        </p:nvSpPr>
        <p:spPr>
          <a:xfrm>
            <a:off x="6993194" y="2465438"/>
            <a:ext cx="1460089" cy="963561"/>
          </a:xfrm>
          <a:prstGeom prst="rect">
            <a:avLst/>
          </a:prstGeom>
          <a:solidFill>
            <a:srgbClr val="EA1D2C"/>
          </a:solidFill>
          <a:ln>
            <a:solidFill>
              <a:srgbClr val="EA1D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Melhor</a:t>
            </a:r>
            <a:r>
              <a:rPr lang="en-US" dirty="0"/>
              <a:t> </a:t>
            </a:r>
            <a:r>
              <a:rPr lang="en-US" dirty="0" err="1"/>
              <a:t>Oferta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721C06-E2B1-0D87-4BE5-0547040D05D4}"/>
              </a:ext>
            </a:extLst>
          </p:cNvPr>
          <p:cNvSpPr txBox="1"/>
          <p:nvPr/>
        </p:nvSpPr>
        <p:spPr>
          <a:xfrm>
            <a:off x="698091" y="4283509"/>
            <a:ext cx="596818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76.277 ofertas analisadas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16.994 clientes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10 ofertas possíveis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12.765 clientes simulados no teste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44482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5AC57-510B-2E0E-CE09-CA36DA1CB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07773B02-E462-241E-3327-CCFD9501878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7" name="Picture 6" descr="Medida preventiva contra o iFood Benefícios é rejeitada pelo Cade •  Tecnoblog">
              <a:extLst>
                <a:ext uri="{FF2B5EF4-FFF2-40B4-BE49-F238E27FC236}">
                  <a16:creationId xmlns:a16="http://schemas.microsoft.com/office/drawing/2014/main" id="{2DEE2670-E9FD-0284-693C-D781CC712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AD77220-0A5D-231D-3E13-D5EA4786C951}"/>
                </a:ext>
              </a:extLst>
            </p:cNvPr>
            <p:cNvSpPr/>
            <p:nvPr/>
          </p:nvSpPr>
          <p:spPr>
            <a:xfrm>
              <a:off x="0" y="0"/>
              <a:ext cx="9114503" cy="685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13AECAF-67C3-CEEC-7889-321AD0BE2E1F}"/>
              </a:ext>
            </a:extLst>
          </p:cNvPr>
          <p:cNvSpPr txBox="1"/>
          <p:nvPr/>
        </p:nvSpPr>
        <p:spPr>
          <a:xfrm>
            <a:off x="1091380" y="304800"/>
            <a:ext cx="75216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>
                <a:solidFill>
                  <a:srgbClr val="EA1D2C"/>
                </a:solidFill>
              </a:rPr>
              <a:t>Como a solução escolhe a melhor oferta?</a:t>
            </a:r>
            <a:endParaRPr lang="en-US" sz="3000" b="1" dirty="0">
              <a:solidFill>
                <a:srgbClr val="EA1D2C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06E9C1-093A-19D9-52AC-113C730AD72C}"/>
              </a:ext>
            </a:extLst>
          </p:cNvPr>
          <p:cNvSpPr txBox="1"/>
          <p:nvPr/>
        </p:nvSpPr>
        <p:spPr>
          <a:xfrm>
            <a:off x="530941" y="1278194"/>
            <a:ext cx="8327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Em vez de escolher uma oferta igual para todos, o modelo avalia qual oferta tem maior potencial para cada cliente.</a:t>
            </a:r>
            <a:endParaRPr lang="en-US" sz="20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2EC930-56EE-176A-799B-415064A07472}"/>
              </a:ext>
            </a:extLst>
          </p:cNvPr>
          <p:cNvSpPr txBox="1"/>
          <p:nvPr/>
        </p:nvSpPr>
        <p:spPr>
          <a:xfrm>
            <a:off x="530941" y="2405476"/>
            <a:ext cx="82197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/>
            </a:lvl1pPr>
          </a:lstStyle>
          <a:p>
            <a:r>
              <a:rPr lang="pt-BR" dirty="0"/>
              <a:t>Para cada cliente, o modelo compara as ofertas disponíveis e escolhe a melhor opção.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07737-AE0B-149E-8DA9-9F84A8CC3982}"/>
              </a:ext>
            </a:extLst>
          </p:cNvPr>
          <p:cNvSpPr txBox="1"/>
          <p:nvPr/>
        </p:nvSpPr>
        <p:spPr>
          <a:xfrm>
            <a:off x="639096" y="3429000"/>
            <a:ext cx="1877961" cy="369332"/>
          </a:xfrm>
          <a:prstGeom prst="rect">
            <a:avLst/>
          </a:prstGeom>
          <a:solidFill>
            <a:srgbClr val="EA1D2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Etapa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7907E6-249A-CE9A-CBC8-D7CE7240AB1B}"/>
              </a:ext>
            </a:extLst>
          </p:cNvPr>
          <p:cNvSpPr txBox="1"/>
          <p:nvPr/>
        </p:nvSpPr>
        <p:spPr>
          <a:xfrm>
            <a:off x="2590799" y="3429000"/>
            <a:ext cx="6022256" cy="369332"/>
          </a:xfrm>
          <a:prstGeom prst="rect">
            <a:avLst/>
          </a:prstGeom>
          <a:solidFill>
            <a:srgbClr val="EA1D2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acontece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C9E3CB-74BE-3274-AD80-2F3C5696FCEC}"/>
              </a:ext>
            </a:extLst>
          </p:cNvPr>
          <p:cNvSpPr txBox="1"/>
          <p:nvPr/>
        </p:nvSpPr>
        <p:spPr>
          <a:xfrm>
            <a:off x="639096" y="3929304"/>
            <a:ext cx="1877961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D0AAB8-B329-099E-0792-9FECC8170BA1}"/>
              </a:ext>
            </a:extLst>
          </p:cNvPr>
          <p:cNvSpPr txBox="1"/>
          <p:nvPr/>
        </p:nvSpPr>
        <p:spPr>
          <a:xfrm>
            <a:off x="639096" y="4429608"/>
            <a:ext cx="1877961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en-US"/>
              <a:t>2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49DCB8-5C05-36DD-834F-32CA3751ADFE}"/>
              </a:ext>
            </a:extLst>
          </p:cNvPr>
          <p:cNvSpPr txBox="1"/>
          <p:nvPr/>
        </p:nvSpPr>
        <p:spPr>
          <a:xfrm>
            <a:off x="639096" y="4929912"/>
            <a:ext cx="1877961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en-US"/>
              <a:t>3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7EA63B-98D1-CB58-4399-D1AC2FFB85A4}"/>
              </a:ext>
            </a:extLst>
          </p:cNvPr>
          <p:cNvSpPr txBox="1"/>
          <p:nvPr/>
        </p:nvSpPr>
        <p:spPr>
          <a:xfrm>
            <a:off x="2590798" y="3935210"/>
            <a:ext cx="6022257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pt-BR" dirty="0"/>
              <a:t>O cliente é analisado com base no histórico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21B990-34A1-C9F6-6AEC-68ABB6E9CC1B}"/>
              </a:ext>
            </a:extLst>
          </p:cNvPr>
          <p:cNvSpPr txBox="1"/>
          <p:nvPr/>
        </p:nvSpPr>
        <p:spPr>
          <a:xfrm>
            <a:off x="2590798" y="4442521"/>
            <a:ext cx="6022258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pt-BR" dirty="0"/>
              <a:t>Cada oferta recebe uma nota de potencial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086491-5E37-9912-D54E-2FBFF1658C96}"/>
              </a:ext>
            </a:extLst>
          </p:cNvPr>
          <p:cNvSpPr txBox="1"/>
          <p:nvPr/>
        </p:nvSpPr>
        <p:spPr>
          <a:xfrm>
            <a:off x="2590799" y="4926568"/>
            <a:ext cx="6022258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pt-BR" dirty="0"/>
              <a:t>A oferta com melhor resultado esperado é recomendada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4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40758-407B-47F1-53A1-FAC5E92F8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E6A733B6-FB11-9A00-520E-79741A6492F2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7" name="Picture 6" descr="Medida preventiva contra o iFood Benefícios é rejeitada pelo Cade •  Tecnoblog">
              <a:extLst>
                <a:ext uri="{FF2B5EF4-FFF2-40B4-BE49-F238E27FC236}">
                  <a16:creationId xmlns:a16="http://schemas.microsoft.com/office/drawing/2014/main" id="{C8745832-4928-47EE-7DE3-A93A0E24A0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51EB1AC-AB46-9E78-B2E5-ED488679106F}"/>
                </a:ext>
              </a:extLst>
            </p:cNvPr>
            <p:cNvSpPr/>
            <p:nvPr/>
          </p:nvSpPr>
          <p:spPr>
            <a:xfrm>
              <a:off x="0" y="0"/>
              <a:ext cx="9114503" cy="685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C2B04E1-FB65-477A-F738-A08A00EA7138}"/>
              </a:ext>
            </a:extLst>
          </p:cNvPr>
          <p:cNvSpPr txBox="1"/>
          <p:nvPr/>
        </p:nvSpPr>
        <p:spPr>
          <a:xfrm>
            <a:off x="324471" y="304800"/>
            <a:ext cx="100780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000" b="1" dirty="0">
                <a:solidFill>
                  <a:srgbClr val="EA1D2C"/>
                </a:solidFill>
              </a:rPr>
              <a:t>Mesmo número de clientes, melhores resultados</a:t>
            </a:r>
            <a:endParaRPr lang="en-US" sz="3000" b="1" dirty="0">
              <a:solidFill>
                <a:srgbClr val="EA1D2C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57BE1B-EA0F-80A0-2FDA-7854ED6B1FFA}"/>
              </a:ext>
            </a:extLst>
          </p:cNvPr>
          <p:cNvSpPr txBox="1"/>
          <p:nvPr/>
        </p:nvSpPr>
        <p:spPr>
          <a:xfrm>
            <a:off x="530941" y="1032390"/>
            <a:ext cx="8327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A solução não reduz o alcance da campanha. Ela mantém todos os clientes impactados, mas melhora a escolha da oferta enviada.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2ABE15-4492-1271-5437-C75FDC8B63F9}"/>
              </a:ext>
            </a:extLst>
          </p:cNvPr>
          <p:cNvSpPr txBox="1"/>
          <p:nvPr/>
        </p:nvSpPr>
        <p:spPr>
          <a:xfrm>
            <a:off x="639096" y="1826341"/>
            <a:ext cx="2370110" cy="369332"/>
          </a:xfrm>
          <a:prstGeom prst="rect">
            <a:avLst/>
          </a:prstGeom>
          <a:solidFill>
            <a:srgbClr val="EA1D2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Indicador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729457-39CE-C207-C2A1-1E4D4D21488C}"/>
              </a:ext>
            </a:extLst>
          </p:cNvPr>
          <p:cNvSpPr txBox="1"/>
          <p:nvPr/>
        </p:nvSpPr>
        <p:spPr>
          <a:xfrm>
            <a:off x="3097162" y="1826341"/>
            <a:ext cx="2733368" cy="369332"/>
          </a:xfrm>
          <a:prstGeom prst="rect">
            <a:avLst/>
          </a:prstGeom>
          <a:solidFill>
            <a:srgbClr val="EA1D2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Campanha</a:t>
            </a:r>
            <a:r>
              <a:rPr lang="en-US" dirty="0"/>
              <a:t> </a:t>
            </a:r>
            <a:r>
              <a:rPr lang="en-US" dirty="0" err="1"/>
              <a:t>atual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89903A-91EA-F1D8-10A1-032DE6944F86}"/>
              </a:ext>
            </a:extLst>
          </p:cNvPr>
          <p:cNvSpPr txBox="1"/>
          <p:nvPr/>
        </p:nvSpPr>
        <p:spPr>
          <a:xfrm>
            <a:off x="648393" y="2326645"/>
            <a:ext cx="2370110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Clientes</a:t>
            </a:r>
            <a:r>
              <a:rPr lang="en-US" dirty="0"/>
              <a:t> </a:t>
            </a:r>
            <a:r>
              <a:rPr lang="en-US" dirty="0" err="1"/>
              <a:t>impactados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18344D-7342-ED47-7E1E-6D175980014D}"/>
              </a:ext>
            </a:extLst>
          </p:cNvPr>
          <p:cNvSpPr txBox="1"/>
          <p:nvPr/>
        </p:nvSpPr>
        <p:spPr>
          <a:xfrm>
            <a:off x="639096" y="2826949"/>
            <a:ext cx="2379407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en-US" dirty="0" err="1"/>
              <a:t>Conclusões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24D07B-D49B-8C5E-3C54-AFAB5B8D2123}"/>
              </a:ext>
            </a:extLst>
          </p:cNvPr>
          <p:cNvSpPr txBox="1"/>
          <p:nvPr/>
        </p:nvSpPr>
        <p:spPr>
          <a:xfrm>
            <a:off x="639096" y="3327253"/>
            <a:ext cx="2379407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en-US" dirty="0"/>
              <a:t>Taxa de </a:t>
            </a:r>
            <a:r>
              <a:rPr lang="en-US" dirty="0" err="1"/>
              <a:t>conclusão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97B0D2-DC40-46F8-7FCB-A0DAC41BCAB1}"/>
              </a:ext>
            </a:extLst>
          </p:cNvPr>
          <p:cNvSpPr txBox="1"/>
          <p:nvPr/>
        </p:nvSpPr>
        <p:spPr>
          <a:xfrm>
            <a:off x="3097161" y="2326645"/>
            <a:ext cx="2733369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pt-BR" dirty="0"/>
              <a:t>12.765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29E5E8-DE4A-2540-1215-BA2A988277A9}"/>
              </a:ext>
            </a:extLst>
          </p:cNvPr>
          <p:cNvSpPr txBox="1"/>
          <p:nvPr/>
        </p:nvSpPr>
        <p:spPr>
          <a:xfrm>
            <a:off x="5918486" y="1826341"/>
            <a:ext cx="2733368" cy="369332"/>
          </a:xfrm>
          <a:prstGeom prst="rect">
            <a:avLst/>
          </a:prstGeom>
          <a:solidFill>
            <a:srgbClr val="EA1D2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Com </a:t>
            </a:r>
            <a:r>
              <a:rPr lang="en-US" dirty="0" err="1"/>
              <a:t>modelo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368886-387C-8A02-11AD-2F2F83949776}"/>
              </a:ext>
            </a:extLst>
          </p:cNvPr>
          <p:cNvSpPr txBox="1"/>
          <p:nvPr/>
        </p:nvSpPr>
        <p:spPr>
          <a:xfrm>
            <a:off x="5918486" y="2320220"/>
            <a:ext cx="2733369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pt-BR" dirty="0"/>
              <a:t>12.765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49BB7F-C30B-4CED-73F3-8F9C8EA9D7E0}"/>
              </a:ext>
            </a:extLst>
          </p:cNvPr>
          <p:cNvSpPr txBox="1"/>
          <p:nvPr/>
        </p:nvSpPr>
        <p:spPr>
          <a:xfrm>
            <a:off x="648393" y="3827557"/>
            <a:ext cx="2379407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en-US" dirty="0"/>
              <a:t>Valor </a:t>
            </a:r>
            <a:r>
              <a:rPr lang="en-US" dirty="0" err="1"/>
              <a:t>líquido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71F3D0-9A30-8535-DF82-919C521BA3FE}"/>
              </a:ext>
            </a:extLst>
          </p:cNvPr>
          <p:cNvSpPr txBox="1"/>
          <p:nvPr/>
        </p:nvSpPr>
        <p:spPr>
          <a:xfrm>
            <a:off x="3097160" y="2826949"/>
            <a:ext cx="2733369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pt-BR" dirty="0"/>
              <a:t>5.365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798F16-E277-E032-00B2-A94DE22283A1}"/>
              </a:ext>
            </a:extLst>
          </p:cNvPr>
          <p:cNvSpPr txBox="1"/>
          <p:nvPr/>
        </p:nvSpPr>
        <p:spPr>
          <a:xfrm>
            <a:off x="3097160" y="3327253"/>
            <a:ext cx="2733369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pt-BR" dirty="0"/>
              <a:t>42%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296462-76E1-536A-6A0B-B55B6BDDCAE2}"/>
              </a:ext>
            </a:extLst>
          </p:cNvPr>
          <p:cNvSpPr txBox="1"/>
          <p:nvPr/>
        </p:nvSpPr>
        <p:spPr>
          <a:xfrm>
            <a:off x="3097160" y="3841296"/>
            <a:ext cx="2733369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pt-BR" dirty="0"/>
              <a:t>279.481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055F82-48CB-9C48-2ECA-49820F0336C0}"/>
              </a:ext>
            </a:extLst>
          </p:cNvPr>
          <p:cNvSpPr txBox="1"/>
          <p:nvPr/>
        </p:nvSpPr>
        <p:spPr>
          <a:xfrm>
            <a:off x="5918486" y="2813210"/>
            <a:ext cx="2733369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pt-BR" dirty="0"/>
              <a:t>9.067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CFF909-A967-1EDA-5B49-E5DE37715382}"/>
              </a:ext>
            </a:extLst>
          </p:cNvPr>
          <p:cNvSpPr txBox="1"/>
          <p:nvPr/>
        </p:nvSpPr>
        <p:spPr>
          <a:xfrm>
            <a:off x="5918486" y="3313514"/>
            <a:ext cx="2733369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pt-BR" dirty="0"/>
              <a:t>71%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EED9FB-9E92-1F0A-625F-0F02FEF55279}"/>
              </a:ext>
            </a:extLst>
          </p:cNvPr>
          <p:cNvSpPr txBox="1"/>
          <p:nvPr/>
        </p:nvSpPr>
        <p:spPr>
          <a:xfrm>
            <a:off x="5918486" y="3827557"/>
            <a:ext cx="2733369" cy="369332"/>
          </a:xfrm>
          <a:prstGeom prst="rect">
            <a:avLst/>
          </a:prstGeom>
          <a:solidFill>
            <a:srgbClr val="A6A29F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/>
            </a:lvl1pPr>
          </a:lstStyle>
          <a:p>
            <a:r>
              <a:rPr lang="pt-BR" dirty="0"/>
              <a:t>285.977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03A343-FEAC-C243-7562-329548FCFDD3}"/>
              </a:ext>
            </a:extLst>
          </p:cNvPr>
          <p:cNvSpPr txBox="1"/>
          <p:nvPr/>
        </p:nvSpPr>
        <p:spPr>
          <a:xfrm>
            <a:off x="560440" y="4399537"/>
            <a:ext cx="41688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/>
              <a:t>+3.702 conclusões esperadas</a:t>
            </a:r>
            <a:endParaRPr lang="pt-B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/>
              <a:t>+69% em conclusões</a:t>
            </a:r>
            <a:endParaRPr lang="pt-BR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/>
              <a:t>+2,3% em valor líquido esperado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b="1" dirty="0"/>
              <a:t>4 tipos de ofertas enviadas</a:t>
            </a:r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987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9258B-6978-47D8-4080-DD32E9BAE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7A32EFC-3AE6-E97D-C21D-3E808D5FABB3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7" name="Picture 6" descr="Medida preventiva contra o iFood Benefícios é rejeitada pelo Cade •  Tecnoblog">
              <a:extLst>
                <a:ext uri="{FF2B5EF4-FFF2-40B4-BE49-F238E27FC236}">
                  <a16:creationId xmlns:a16="http://schemas.microsoft.com/office/drawing/2014/main" id="{A060849C-7E0D-EF02-BA6D-4BACC3D59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A943342-81D9-191B-F20D-C4871CE400E0}"/>
                </a:ext>
              </a:extLst>
            </p:cNvPr>
            <p:cNvSpPr/>
            <p:nvPr/>
          </p:nvSpPr>
          <p:spPr>
            <a:xfrm>
              <a:off x="0" y="0"/>
              <a:ext cx="9114503" cy="685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241D705-137C-B88B-959A-C8DE1B357409}"/>
              </a:ext>
            </a:extLst>
          </p:cNvPr>
          <p:cNvSpPr txBox="1"/>
          <p:nvPr/>
        </p:nvSpPr>
        <p:spPr>
          <a:xfrm>
            <a:off x="324471" y="304800"/>
            <a:ext cx="100780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b="1" dirty="0">
                <a:solidFill>
                  <a:srgbClr val="EA1D2C"/>
                </a:solidFill>
              </a:rPr>
              <a:t>Recomendação e Proximos passos</a:t>
            </a:r>
            <a:endParaRPr lang="en-US" sz="3000" b="1" dirty="0">
              <a:solidFill>
                <a:srgbClr val="EA1D2C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537A2D-3F1F-6A6C-46B5-05A9F98D2F06}"/>
              </a:ext>
            </a:extLst>
          </p:cNvPr>
          <p:cNvSpPr txBox="1"/>
          <p:nvPr/>
        </p:nvSpPr>
        <p:spPr>
          <a:xfrm>
            <a:off x="530941" y="1091384"/>
            <a:ext cx="83279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Política recomendada: Modelo Top 100%</a:t>
            </a:r>
            <a:endParaRPr lang="en-US" sz="2000" b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84E3C26-C4F8-D712-F133-1089CDCDED10}"/>
              </a:ext>
            </a:extLst>
          </p:cNvPr>
          <p:cNvSpPr txBox="1"/>
          <p:nvPr/>
        </p:nvSpPr>
        <p:spPr>
          <a:xfrm>
            <a:off x="530941" y="1545344"/>
            <a:ext cx="5938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Por que essa escolha?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Mantém todos os clientes da campanha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Aumenta a chance de conclusão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Gera mais conversões esperadas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Melhora o valor líquido esperado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É simples de comparar com a campanha atual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84EA365-A6E7-53BE-22A3-F08FF74F1CC2}"/>
              </a:ext>
            </a:extLst>
          </p:cNvPr>
          <p:cNvSpPr txBox="1"/>
          <p:nvPr/>
        </p:nvSpPr>
        <p:spPr>
          <a:xfrm>
            <a:off x="324471" y="3353520"/>
            <a:ext cx="2541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>
                <a:solidFill>
                  <a:srgbClr val="EA1D2C"/>
                </a:solidFill>
              </a:rPr>
              <a:t>Proximos</a:t>
            </a:r>
            <a:r>
              <a:rPr lang="en-US" sz="2000" b="1" dirty="0">
                <a:solidFill>
                  <a:srgbClr val="EA1D2C"/>
                </a:solidFill>
              </a:rPr>
              <a:t> </a:t>
            </a:r>
            <a:r>
              <a:rPr lang="en-US" sz="2000" b="1" dirty="0" err="1">
                <a:solidFill>
                  <a:srgbClr val="EA1D2C"/>
                </a:solidFill>
              </a:rPr>
              <a:t>passos</a:t>
            </a:r>
            <a:endParaRPr lang="en-US" sz="2000" b="1" dirty="0">
              <a:solidFill>
                <a:srgbClr val="EA1D2C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B1A528-8336-3C41-A28E-2BCB1231F8A9}"/>
              </a:ext>
            </a:extLst>
          </p:cNvPr>
          <p:cNvSpPr txBox="1"/>
          <p:nvPr/>
        </p:nvSpPr>
        <p:spPr>
          <a:xfrm>
            <a:off x="530940" y="3801550"/>
            <a:ext cx="43950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Rodar um teste A/B.</a:t>
            </a:r>
          </a:p>
          <a:p>
            <a:endParaRPr lang="pt-BR" dirty="0"/>
          </a:p>
          <a:p>
            <a:r>
              <a:rPr lang="pt-BR" b="1" dirty="0"/>
              <a:t>Métricas para acompanhar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Taxa de conclusão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Valor líquido total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Valor líquido por envio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Custo de recompensa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Distribuição das ofertas recomendadas</a:t>
            </a:r>
          </a:p>
          <a:p>
            <a:endParaRPr lang="pt-BR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E13A4D-EC3F-FEE4-83FC-421FB571BDB2}"/>
              </a:ext>
            </a:extLst>
          </p:cNvPr>
          <p:cNvSpPr txBox="1"/>
          <p:nvPr/>
        </p:nvSpPr>
        <p:spPr>
          <a:xfrm>
            <a:off x="5363503" y="3364072"/>
            <a:ext cx="25416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EA1D2C"/>
                </a:solidFill>
              </a:rPr>
              <a:t>Pontos de </a:t>
            </a:r>
            <a:r>
              <a:rPr lang="en-US" sz="2000" b="1" dirty="0" err="1">
                <a:solidFill>
                  <a:srgbClr val="EA1D2C"/>
                </a:solidFill>
              </a:rPr>
              <a:t>melhoria</a:t>
            </a:r>
            <a:endParaRPr lang="en-US" sz="2000" b="1" dirty="0">
              <a:solidFill>
                <a:srgbClr val="EA1D2C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5F4C23-0BC6-C419-EC81-655263B22C70}"/>
              </a:ext>
            </a:extLst>
          </p:cNvPr>
          <p:cNvSpPr txBox="1"/>
          <p:nvPr/>
        </p:nvSpPr>
        <p:spPr>
          <a:xfrm>
            <a:off x="5456901" y="3753630"/>
            <a:ext cx="439502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Cadatro.</a:t>
            </a:r>
          </a:p>
          <a:p>
            <a:endParaRPr lang="pt-BR" dirty="0"/>
          </a:p>
          <a:p>
            <a:r>
              <a:rPr lang="pt-BR" b="1" dirty="0"/>
              <a:t>Métricas para acompanhar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Idade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Limite de Cartão de Crédito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/>
              <a:t>Gênero</a:t>
            </a:r>
          </a:p>
        </p:txBody>
      </p:sp>
    </p:spTree>
    <p:extLst>
      <p:ext uri="{BB962C8B-B14F-4D97-AF65-F5344CB8AC3E}">
        <p14:creationId xmlns:p14="http://schemas.microsoft.com/office/powerpoint/2010/main" val="574782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324</Words>
  <Application>Microsoft Office PowerPoint</Application>
  <PresentationFormat>Widescreen</PresentationFormat>
  <Paragraphs>71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Apis022 Dell</dc:creator>
  <cp:lastModifiedBy>Apis022 Dell</cp:lastModifiedBy>
  <cp:revision>1</cp:revision>
  <dcterms:created xsi:type="dcterms:W3CDTF">2026-05-25T18:50:16Z</dcterms:created>
  <dcterms:modified xsi:type="dcterms:W3CDTF">2026-05-25T20:12:47Z</dcterms:modified>
</cp:coreProperties>
</file>